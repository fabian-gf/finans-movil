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D602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846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60810"/>
          </a:solidFill>
          <a:ln w="12700">
            <a:solidFill>
              <a:srgbClr val="060810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731520"/>
            <a:ext cx="530352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920240"/>
            <a:ext cx="530352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3108960"/>
            <a:ext cx="530352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4297680"/>
            <a:ext cx="530352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5486400"/>
            <a:ext cx="530352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457200"/>
            <a:ext cx="0" cy="59436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457200"/>
            <a:ext cx="0" cy="59436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457200"/>
            <a:ext cx="0" cy="59436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0" y="457200"/>
            <a:ext cx="0" cy="59436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457200"/>
            <a:ext cx="0" cy="59436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640080"/>
            <a:ext cx="3566160" cy="5138927"/>
          </a:xfrm>
          <a:prstGeom prst="roundRect">
            <a:avLst>
              <a:gd name="adj" fmla="val 7813"/>
            </a:avLst>
          </a:prstGeom>
          <a:solidFill>
            <a:srgbClr val="151C2C"/>
          </a:solidFill>
          <a:ln/>
          <a:effectLst>
            <a:outerShdw blurRad="381000" dist="1016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20965" y="777240"/>
            <a:ext cx="3343275" cy="48731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1097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600" dirty="0">
                <a:solidFill>
                  <a:srgbClr val="16D6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</a:t>
            </a:r>
            <a:endParaRPr lang="en-US" sz="6400" dirty="0">
              <a:solidFill>
                <a:srgbClr val="16D602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45093" y="2005066"/>
            <a:ext cx="1645920" cy="54864"/>
          </a:xfrm>
          <a:prstGeom prst="rect">
            <a:avLst/>
          </a:prstGeom>
          <a:solidFill>
            <a:srgbClr val="16D602">
              <a:alpha val="64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Control </a:t>
            </a:r>
            <a:r>
              <a:rPr lang="es-CO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76413" y="2774716"/>
            <a:ext cx="361853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96766" y="515237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96766" y="547241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Fabian Gomez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996766" y="579245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Santiago Angel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996766" y="611249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Sebastian Gonzales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914EEAC4-AC67-4BBC-8A98-8ED8FE95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741" y="822961"/>
            <a:ext cx="3261499" cy="4681728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2A32B039-8747-4A23-AB2E-F7BEBC141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237" y="934819"/>
            <a:ext cx="1214317" cy="1171634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6D60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D6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&amp; OBJETIVO</a:t>
            </a:r>
            <a:endParaRPr lang="en-US" sz="1100" dirty="0">
              <a:solidFill>
                <a:srgbClr val="16D60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 Finans?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0" cy="4114800"/>
          </a:xfrm>
          <a:prstGeom prst="rect">
            <a:avLst/>
          </a:prstGeom>
          <a:solidFill>
            <a:srgbClr val="120A1E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45720" cy="411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El Problema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677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personales dispersas o en archivo Excel</a:t>
            </a:r>
            <a:endParaRPr lang="es-CO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535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visión centralizada de ingresos y gastos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393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seguimiento de deudas y ahorros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251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historial organizado de transacciones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5212080" cy="4114800"/>
          </a:xfrm>
          <a:prstGeom prst="rect">
            <a:avLst/>
          </a:prstGeom>
          <a:solidFill>
            <a:srgbClr val="0A1A14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54480"/>
            <a:ext cx="45720" cy="4114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737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Solución: Finans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233172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2677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toda la información financiera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01752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9535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claro de ingresos, gastos y ahorros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370332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6393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intuitiva de deudas y cuentas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31089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PROYECTO</a:t>
            </a:r>
            <a:endParaRPr lang="en-US" sz="1100" dirty="0">
              <a:solidFill>
                <a:srgbClr val="3B82F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858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Screens ·Navigation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58000" cy="914400"/>
          </a:xfrm>
          <a:prstGeom prst="rect">
            <a:avLst/>
          </a:prstGeom>
          <a:solidFill>
            <a:srgbClr val="0A281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54864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9535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Entities · Interfaces  ·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6858000" cy="914400"/>
          </a:xfrm>
          <a:prstGeom prst="rect">
            <a:avLst/>
          </a:prstGeom>
          <a:solidFill>
            <a:srgbClr val="1A0D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0965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· Mapper · DAO · Local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2860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4290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38328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0" name="Shape 18"/>
          <p:cNvSpPr/>
          <p:nvPr/>
        </p:nvSpPr>
        <p:spPr>
          <a:xfrm>
            <a:off x="8229600" y="1371600"/>
            <a:ext cx="45720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463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Kotlin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2167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Jetpack Compose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108960"/>
            <a:ext cx="338328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108960"/>
            <a:ext cx="45720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2004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3611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904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41970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DAO / Entities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hacia adentro: UI → Domain →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554480"/>
            <a:ext cx="9144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554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933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moderno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4630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554480"/>
            <a:ext cx="9144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554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0" y="1600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19933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declarativa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Nativa Android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63040"/>
            <a:ext cx="45720" cy="1554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0" y="1554480"/>
            <a:ext cx="914400" cy="2560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0" y="1554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s-CO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1600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19933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with Room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329184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3291840"/>
            <a:ext cx="45720" cy="155448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3383280"/>
            <a:ext cx="914400" cy="256032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383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017520" y="3429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17520" y="38221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9400" y="329184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3291840"/>
            <a:ext cx="4572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9720" y="3383280"/>
            <a:ext cx="91440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3383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s-CO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3429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12280" y="38221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950720" y="19979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87880" y="1632204"/>
            <a:ext cx="23774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7880" y="1632204"/>
            <a:ext cx="23774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9320" y="176936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79320" y="22265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muestra y captura eventos</a:t>
            </a:r>
            <a:endParaRPr lang="es-CO" sz="1000" dirty="0"/>
          </a:p>
        </p:txBody>
      </p:sp>
      <p:sp>
        <p:nvSpPr>
          <p:cNvPr id="14" name="Text 12"/>
          <p:cNvSpPr/>
          <p:nvPr/>
        </p:nvSpPr>
        <p:spPr>
          <a:xfrm>
            <a:off x="4511040" y="19979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48200" y="1632204"/>
            <a:ext cx="23774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8200" y="1632204"/>
            <a:ext cx="23774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9640" y="176936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9640" y="22265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estado y flujo</a:t>
            </a:r>
            <a:endParaRPr lang="es-CO" sz="1000" dirty="0"/>
          </a:p>
        </p:txBody>
      </p:sp>
      <p:sp>
        <p:nvSpPr>
          <p:cNvPr id="19" name="Text 17"/>
          <p:cNvSpPr/>
          <p:nvPr/>
        </p:nvSpPr>
        <p:spPr>
          <a:xfrm>
            <a:off x="7071360" y="19979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08520" y="1632204"/>
            <a:ext cx="23774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8520" y="1632204"/>
            <a:ext cx="23774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9960" y="176936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99960" y="22265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</a:t>
            </a: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negocio</a:t>
            </a:r>
            <a:endParaRPr lang="es-CO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200400"/>
            <a:ext cx="3383280" cy="118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200400"/>
            <a:ext cx="4572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3291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68880" y="3703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de transferencia de datos </a:t>
            </a:r>
            <a:endParaRPr lang="es-CO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3200400"/>
            <a:ext cx="3383280" cy="118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3200400"/>
            <a:ext cx="45720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291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3703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 →  Controller  →  Service  →  Repository  →  MySQL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6D60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D6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— FRONTEND MÓVIL</a:t>
            </a:r>
            <a:endParaRPr lang="en-US" sz="1100" dirty="0">
              <a:solidFill>
                <a:srgbClr val="16D60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· State · Jetpack Compose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57784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5778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527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TransactionViewModel.kt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8790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TransactionViewModel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122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constructor(private val repo: TransactionRepository)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34543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ViewModel()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7860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_transactions = MutableStateFlow(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1178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TransactionState())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04495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 state = _transactions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781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 loadTransactions() {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5112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viewModelScope.launch 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74446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repo.getTransaction(accountId){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1234440"/>
            <a:ext cx="539496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234440"/>
            <a:ext cx="53949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2527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TransactionsView.kt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16459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18790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TransactionsView(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211226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viewModel: TransactionViewModel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234543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25786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 state by viewModel.state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281178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.collectAsStateWithLifecycle()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30449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LazyColumn {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327812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items(state.items) { tx -&gt;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351129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TransactionItem(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374446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transaction = tx,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397764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modifier = Modifier.fillMaxWidth()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421081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356616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66344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754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(UI)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51023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Screens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4892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97680" y="4663440"/>
            <a:ext cx="356616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466344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4754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389120" y="51023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UI,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01000" y="4892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38160" y="4663440"/>
            <a:ext cx="356616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4663440"/>
            <a:ext cx="3566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4754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29600" y="51023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Source, </a:t>
            </a: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s-CO" sz="10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EF9B7594-1535-4210-8549-DAEBECF8B60E}"/>
              </a:ext>
            </a:extLst>
          </p:cNvPr>
          <p:cNvSpPr/>
          <p:nvPr/>
        </p:nvSpPr>
        <p:spPr>
          <a:xfrm>
            <a:off x="624840" y="163677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6D60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D6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 DATOS</a:t>
            </a:r>
            <a:endParaRPr lang="en-US" sz="1100" dirty="0">
              <a:solidFill>
                <a:srgbClr val="16D60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UI al servidor y de regreso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609088" y="1490472"/>
            <a:ext cx="1920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9088" y="1490472"/>
            <a:ext cx="19202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9168" y="156362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9088" y="1947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9088" y="2276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56760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5088" y="1490472"/>
            <a:ext cx="1920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5088" y="1490472"/>
            <a:ext cx="19202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5168" y="156362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5088" y="1947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5088" y="2276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Compose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2760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90232" y="1490472"/>
            <a:ext cx="1920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0232" y="1490472"/>
            <a:ext cx="19202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30312" y="156362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90232" y="1947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90232" y="2276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61432" y="12024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61432" y="3267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42760" y="37048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262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09088" y="3512820"/>
            <a:ext cx="192024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9088" y="36957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5088" y="3512820"/>
            <a:ext cx="192024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5088" y="36957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90232" y="3508248"/>
            <a:ext cx="192024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90232" y="3691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572000"/>
            <a:ext cx="1124712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hacer Finans?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31720" y="137160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463040"/>
            <a:ext cx="822960" cy="1371600"/>
          </a:xfrm>
          <a:prstGeom prst="roundRect">
            <a:avLst>
              <a:gd name="adj" fmla="val 8889"/>
            </a:avLst>
          </a:prstGeom>
          <a:solidFill>
            <a:srgbClr val="0A0E1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1554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93852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completo, filtros y búsqueda avanzada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1371600"/>
            <a:ext cx="45720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4120" y="137160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1280" y="1463040"/>
            <a:ext cx="822960" cy="1371600"/>
          </a:xfrm>
          <a:prstGeom prst="roundRect">
            <a:avLst>
              <a:gd name="adj" fmla="val 8889"/>
            </a:avLst>
          </a:prstGeom>
          <a:solidFill>
            <a:srgbClr val="0A0E1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700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91400" y="1554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91400" y="193852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multi-cuenta con seguimiento individual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94120" y="1371600"/>
            <a:ext cx="45720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15468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246120"/>
            <a:ext cx="822960" cy="1371600"/>
          </a:xfrm>
          <a:prstGeom prst="roundRect">
            <a:avLst>
              <a:gd name="adj" fmla="val 8889"/>
            </a:avLst>
          </a:prstGeom>
          <a:solidFill>
            <a:srgbClr val="0A0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3337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372160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ahorro con progreso visual en tiempo real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154680"/>
            <a:ext cx="4572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15468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3246120"/>
            <a:ext cx="822960" cy="1371600"/>
          </a:xfrm>
          <a:prstGeom prst="roundRect">
            <a:avLst>
              <a:gd name="adj" fmla="val 8889"/>
            </a:avLst>
          </a:prstGeom>
          <a:solidFill>
            <a:srgbClr val="0A0E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337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72160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préstamos con fechas y montos pendientes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3154680"/>
            <a:ext cx="45720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3154680"/>
            <a:ext cx="35661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3246120"/>
            <a:ext cx="822960" cy="1371600"/>
          </a:xfrm>
          <a:prstGeom prst="roundRect">
            <a:avLst>
              <a:gd name="adj" fmla="val 8889"/>
            </a:avLst>
          </a:prstGeom>
          <a:solidFill>
            <a:srgbClr val="0A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326880" y="3337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Transacción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326880" y="372160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rápido de ingresos y gastos con categorías y transacción entre cuentas</a:t>
            </a:r>
            <a:endParaRPr lang="es-CO" sz="1000" dirty="0"/>
          </a:p>
        </p:txBody>
      </p:sp>
      <p:sp>
        <p:nvSpPr>
          <p:cNvPr id="40" name="Shape 38"/>
          <p:cNvSpPr/>
          <p:nvPr/>
        </p:nvSpPr>
        <p:spPr>
          <a:xfrm>
            <a:off x="8229600" y="3154680"/>
            <a:ext cx="4572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TÉCNICAS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 del diseño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54864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5786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Escalable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9718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facilita crecimiento sin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548640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468880"/>
            <a:ext cx="54864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7432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23760" y="25786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Mantenible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29718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SOLID, patrón Repository, DTOs y separación de capas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48640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02336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2976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13308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45262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adapta la UI a diferentes tamaños de pantalla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548640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23360"/>
            <a:ext cx="54864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976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413308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5262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dependencias, manejo de estados reactivos con Flow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FUTURAS MEJORAS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evolución del proyecto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772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v0.0.1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105156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4173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Ideas, Mockups y </a:t>
            </a:r>
            <a:r>
              <a:rPr lang="es-CO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s-CO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selecciona ideas, se establecen funcionalidades y se diseñan mockups</a:t>
            </a:r>
            <a:endParaRPr lang="es-CO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5661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3" name="Shape 11"/>
          <p:cNvSpPr/>
          <p:nvPr/>
        </p:nvSpPr>
        <p:spPr>
          <a:xfrm>
            <a:off x="4389120" y="1371600"/>
            <a:ext cx="7772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716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417320"/>
            <a:ext cx="105156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4173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26280" y="1755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with Datos Hardcoded</a:t>
            </a:r>
            <a:endParaRPr lang="es-CO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148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desarrolla código de los mockups establecidos en la v0.0.1 </a:t>
            </a:r>
            <a:endParaRPr lang="es-CO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5661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371600"/>
            <a:ext cx="7772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3716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698480" y="1417320"/>
            <a:ext cx="105156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0" y="14173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66760" y="1755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y manejo de Datos</a:t>
            </a:r>
            <a:endParaRPr lang="es-CO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2148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complete de Screen’s con manejo de datos en db con Room </a:t>
            </a:r>
            <a:endParaRPr lang="es-CO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3127248"/>
            <a:ext cx="35661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3127248"/>
            <a:ext cx="7772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12724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v.1.0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172968"/>
            <a:ext cx="105156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0" name="Text 28"/>
          <p:cNvSpPr/>
          <p:nvPr/>
        </p:nvSpPr>
        <p:spPr>
          <a:xfrm>
            <a:off x="4754880" y="31729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423160" y="35112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s-CO" sz="1300" dirty="0"/>
          </a:p>
        </p:txBody>
      </p:sp>
      <p:sp>
        <p:nvSpPr>
          <p:cNvPr id="32" name="Text 30"/>
          <p:cNvSpPr/>
          <p:nvPr/>
        </p:nvSpPr>
        <p:spPr>
          <a:xfrm>
            <a:off x="2423160" y="3904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corregidos, funcionalidad completa de la app</a:t>
            </a:r>
            <a:endParaRPr lang="es-CO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127248"/>
            <a:ext cx="35661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3127248"/>
            <a:ext cx="77724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12724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95360" y="3172968"/>
            <a:ext cx="105156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31729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3640" y="35112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3904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en Cloud con Firebase</a:t>
            </a:r>
            <a:endParaRPr lang="es-CO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0D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0"/>
          </a:xfrm>
          <a:prstGeom prst="line">
            <a:avLst/>
          </a:prstGeom>
          <a:noFill/>
          <a:ln w="6350">
            <a:solidFill>
              <a:srgbClr val="0D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12161520" cy="0"/>
          </a:xfrm>
          <a:prstGeom prst="line">
            <a:avLst/>
          </a:prstGeom>
          <a:noFill/>
          <a:ln w="6350">
            <a:solidFill>
              <a:srgbClr val="0D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12161520" cy="0"/>
          </a:xfrm>
          <a:prstGeom prst="line">
            <a:avLst/>
          </a:prstGeom>
          <a:noFill/>
          <a:ln w="6350">
            <a:solidFill>
              <a:srgbClr val="0D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12161520" cy="0"/>
          </a:xfrm>
          <a:prstGeom prst="line">
            <a:avLst/>
          </a:prstGeom>
          <a:noFill/>
          <a:ln w="6350">
            <a:solidFill>
              <a:srgbClr val="0D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6350">
            <a:solidFill>
              <a:srgbClr val="0D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035040"/>
            <a:ext cx="12161520" cy="0"/>
          </a:xfrm>
          <a:prstGeom prst="line">
            <a:avLst/>
          </a:prstGeom>
          <a:noFill/>
          <a:ln w="6350">
            <a:solidFill>
              <a:srgbClr val="0D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50A15"/>
          </a:solidFill>
          <a:ln w="12700">
            <a:solidFill>
              <a:srgbClr val="050A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0"/>
            <a:ext cx="36576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Implementar Clean Architecture en proyectos reales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Integración completa móvil ↔ base de datos</a:t>
            </a:r>
            <a:endParaRPr lang="es-CO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455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Manejo de estados reactivos con Kotlin 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profesional: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demuestra capacidad para desarrollar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producción con arquitectura empresarial.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600" dirty="0"/>
          </a:p>
        </p:txBody>
      </p:sp>
      <p:sp>
        <p:nvSpPr>
          <p:cNvPr id="21" name="Shape 19"/>
          <p:cNvSpPr/>
          <p:nvPr/>
        </p:nvSpPr>
        <p:spPr>
          <a:xfrm>
            <a:off x="6858000" y="2834640"/>
            <a:ext cx="393192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Gomez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456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Angel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38953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Gonzales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48463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 · </a:t>
            </a:r>
            <a:r>
              <a:rPr lang="es-CO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Control </a:t>
            </a:r>
            <a:r>
              <a:rPr lang="es-CO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· Jetpack Compose · MySQL · · Clean Architecture</a:t>
            </a:r>
            <a:endParaRPr lang="en-US" sz="800" dirty="0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1E89B4CF-46AA-4C55-93F7-E0196267B5BC}"/>
              </a:ext>
            </a:extLst>
          </p:cNvPr>
          <p:cNvSpPr/>
          <p:nvPr/>
        </p:nvSpPr>
        <p:spPr>
          <a:xfrm>
            <a:off x="251460" y="779084"/>
            <a:ext cx="3840480" cy="658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600" dirty="0">
                <a:solidFill>
                  <a:srgbClr val="16D6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</a:t>
            </a:r>
            <a:endParaRPr lang="en-US" sz="6400" dirty="0">
              <a:solidFill>
                <a:srgbClr val="16D602"/>
              </a:solidFill>
            </a:endParaRPr>
          </a:p>
        </p:txBody>
      </p:sp>
      <p:sp>
        <p:nvSpPr>
          <p:cNvPr id="31" name="Shape 35">
            <a:extLst>
              <a:ext uri="{FF2B5EF4-FFF2-40B4-BE49-F238E27FC236}">
                <a16:creationId xmlns:a16="http://schemas.microsoft.com/office/drawing/2014/main" id="{722F00C6-9AFC-4DE6-B128-6800862300A8}"/>
              </a:ext>
            </a:extLst>
          </p:cNvPr>
          <p:cNvSpPr/>
          <p:nvPr/>
        </p:nvSpPr>
        <p:spPr>
          <a:xfrm>
            <a:off x="1039353" y="1474027"/>
            <a:ext cx="1256884" cy="45719"/>
          </a:xfrm>
          <a:prstGeom prst="rect">
            <a:avLst/>
          </a:prstGeom>
          <a:solidFill>
            <a:srgbClr val="16D602">
              <a:alpha val="64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5C13536B-AF7A-4043-B004-76FA2A4A6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497" y="616623"/>
            <a:ext cx="927297" cy="894703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672</Words>
  <Application>Microsoft Office PowerPoint</Application>
  <PresentationFormat>Panorámica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Oscar Gomez</cp:lastModifiedBy>
  <cp:revision>12</cp:revision>
  <dcterms:created xsi:type="dcterms:W3CDTF">2026-05-17T22:24:22Z</dcterms:created>
  <dcterms:modified xsi:type="dcterms:W3CDTF">2026-05-19T03:09:09Z</dcterms:modified>
</cp:coreProperties>
</file>